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好，我们是第九小组。今天非常荣幸能在这里向大家汇报我们的课程项目——个人图书管理助手。本次汇报将涵盖项目的背景目标、系统设计、功能实现、测试结果以及项目总结等方面。请各位老师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将分为七个部分。首先，我们会介绍项目的背景与目标；接着，详细阐述需求分析和系统设计；然后，通过功能演示直观展示系统效果；之后是测试结果的汇报；最后，我们会对整个项目进行总结，并说明团队成员的分工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首先来看项目背景。随着数字化阅读的普及，大家的个人藏书和电子资料越来越多，传统的管理方式已经无法满足需求。因此，我们的目标是开发一个轻量级的Web应用来解决这个问题。我们选择了Python、Flask和SQLite等成熟技术，实现了一个可以在本地运行的图书管理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需求分析阶段，我们明确了系统需要实现的核心功能。除了基础的增删改查，我们还增加了强大的检索功能，包括模糊搜索和多条件筛选。此外，数据管理方面支持批量操作和导出，可视化方面提供了统计看板和进度条。系统功能上，我们实现了灵活的分类和标签系统，并加入了分页功能，确保了系统的完整性和易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系统采用经典的三层架构设计。表现层负责用户界面，业务逻辑层由Flask框架处理核心业务，数据访问层则通过SQLite数据库进行数据持久化。这种分层结构使得系统各部分职责清晰，易于维护和扩展。数据在浏览器、后端和数据库之间有序流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数据库设计是系统的基石。我们设计了四张核心表：分类表、图书表、标签表以及实现图书和标签多对多关系的关联表。图书表通过外键与分类表关联，实现了分类管理；通过关联表与标签表关联，实现了灵活的标签系统。这样的设计既保证了数据的完整性，也提供了良好的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部分。首先是核心的CRUD和搜索功能。这是我们的图书列表主页，它以表格形式展示所有图书信息，并在顶部提供了直观的统计看板。用户可以通过弹窗方便地添加或编辑图书，并且支持标签的动态输入。搜索框支持对书名和作者的模糊查询，帮助用户快速找到想要的书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强大的筛选功能。用户可以通过顶部的下拉框按阅读状态进行筛选。同时，页面下方会列出所有标签，点击标签即可筛选出相关图书，并且支持多个标签叠加筛选。最关键的是，搜索、状态和标签这三种筛选方式可以任意组合，实现非常精准的查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提升可视化效果，我们加入了进度条和状态徽章。总体阅读进度条会根据已读书籍的比例变化颜色，非常直观。同时，每本书都有一个迷你进度条和彩色状态徽章。对于图书较多的用户，我们实现了完善的分页功能，支持快速跳转和页码折叠，保证了列表的整洁和易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管理方面，我们实现了批量删除功能，用户可以勾选多条记录一次性删除。同时，系统支持将当前视图的数据导出为CSV文件，方便进行外部分析，并且我们解决了Excel打开时的乱码问题。考虑到易用性，程序在首次运行时会自动创建数据库和表结构，用户无需手动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为了确保系统质量，我们进行了严格的测试。我们设计了33个测试用例，覆盖了所有核心功能模块和边界情况。测试结果显示，所有用例全部通过，系统在测试过程中表现稳定，没有发现任何缺陷。我们的结论是，系统功能完整，运行可靠，满足了最初的设计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是我们团队成员的分工情况。刘璟轩主要负责全栈开发和数据库设计；李淑湘负责前期的需求分析和功能设计；程智鸿和旷凯翔则主要承担了测试和各类文档的撰写工作。大家分工明确，协作高效，共同完成了项目的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后，对项目进行总结。我们成功实现了所有规划的功能点。在技术上，我们应用了参数化查询、动态SQL等技术确保了系统的安全性和灵活性。团队通过GitHub进行高效协作，积累了宝贵的全栈开发和团队协作经验。当然，项目还有很多可以扩展的方向，比如移动端适配和云同步等，这将是我们未来的努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我的汇报到此结束。再次感谢各位老师的聆听，我们的项目代码和文档都托管在GitHub上，欢迎大家访问。如果大家有任何问题或建议，欢迎提出，我们非常乐意听取各位老师的宝贵意见。谢谢！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6.sv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3" Type="http://schemas.openxmlformats.org/officeDocument/2006/relationships/image" Target="../media/image2.jpeg"/><Relationship Id="rId7" Type="http://schemas.openxmlformats.org/officeDocument/2006/relationships/image" Target="../media/image33.sv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11" Type="http://schemas.openxmlformats.org/officeDocument/2006/relationships/image" Target="../media/image44.svg"/><Relationship Id="rId5" Type="http://schemas.openxmlformats.org/officeDocument/2006/relationships/image" Target="../media/image40.svg"/><Relationship Id="rId10" Type="http://schemas.openxmlformats.org/officeDocument/2006/relationships/image" Target="../media/image43.png"/><Relationship Id="rId4" Type="http://schemas.openxmlformats.org/officeDocument/2006/relationships/image" Target="../media/image39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svg"/><Relationship Id="rId3" Type="http://schemas.openxmlformats.org/officeDocument/2006/relationships/image" Target="../media/image2.jpeg"/><Relationship Id="rId7" Type="http://schemas.openxmlformats.org/officeDocument/2006/relationships/image" Target="../media/image51.sv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sv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2.jpe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11" Type="http://schemas.openxmlformats.org/officeDocument/2006/relationships/image" Target="../media/image65.svg"/><Relationship Id="rId5" Type="http://schemas.openxmlformats.org/officeDocument/2006/relationships/image" Target="../media/image59.sv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.jpeg"/><Relationship Id="rId7" Type="http://schemas.openxmlformats.org/officeDocument/2006/relationships/image" Target="../media/image6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png"/><Relationship Id="rId11" Type="http://schemas.openxmlformats.org/officeDocument/2006/relationships/image" Target="../media/image73.svg"/><Relationship Id="rId5" Type="http://schemas.openxmlformats.org/officeDocument/2006/relationships/image" Target="../media/image67.sv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个人图书管理助手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《信息系统实践》课程结项汇报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10668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14B8A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4699000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小组09 | 刘璟轩、李淑湘、程智鸿、旷凯翔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5461000"/>
            <a:ext cx="482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尹兆远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4699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学 院：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计算机学院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5461000"/>
            <a:ext cx="457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日 期：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905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159000" y="635000"/>
            <a:ext cx="254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3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778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阐述项目发起的背景，明确项目开展的初衷，以及期望通过项目达成的核心目标与价值。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238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175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深入调研业务场景，详细梳理系统需实现的各项功能点，明确用户的核心诉求与使用痛点。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635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572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从整体视角介绍系统的技术架构，同时展示数据库的设计方案，保障系统的稳定性与扩展性。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13500" y="1841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1778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通过实际操作的形式，直观展示系统的核心功能模块，呈现功能的运行效果与操作流程。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3238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3175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全面汇报系统测试的覆盖范围，分析测试过程中发现的问题，给出最终的测试结论与评估。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46355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4572000"/>
            <a:ext cx="3937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对项目的整体完成情况进行总结，提炼项目中的技术亮点，分享项目实施过程中的经验与收获。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842000"/>
            <a:ext cx="76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5842000"/>
            <a:ext cx="9017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成员分工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清晰说明团队各成员在项目中的具体职责，展示每个人在不同阶段所做出的贡献与成果，体现团队协作的价值。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💡 问题与需求分析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699000" cy="1587500"/>
          </a:xfrm>
          <a:prstGeom prst="roundRect">
            <a:avLst>
              <a:gd name="adj" fmla="val 640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9210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857500"/>
            <a:ext cx="3683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📚 传统管理方式效率低下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随着藏书与电子资料的快速积累，依赖Excel表格或备忘录等通用工具已难以支撑高效管理。缺乏专业的分类标签与状态追踪，使得查找资料耗时费力，无法满足系统化管理的需求。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4445000"/>
            <a:ext cx="4699000" cy="1587500"/>
          </a:xfrm>
          <a:prstGeom prst="roundRect">
            <a:avLst>
              <a:gd name="adj" fmla="val 64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635500"/>
            <a:ext cx="558800" cy="558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4572000"/>
            <a:ext cx="3683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🎁 轻量化管理工具的刚需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用户迫切需要一款轻量级、易上手的专属工具，能够快速完成图书的录入、分类与检索，同时支持追踪阅读状态。无需复杂的配置，即可实现个人藏书的一站式管理，回归阅读本身的乐趣。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目标设定与技术选型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699000" cy="1778000"/>
          </a:xfrm>
          <a:prstGeom prst="roundRect">
            <a:avLst>
              <a:gd name="adj" fmla="val 5714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2921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29500" y="2857500"/>
            <a:ext cx="37465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🚀 打造核心功能完备的管理应用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开发一款轻量级Web图书管理应用，核心实现图书的增删改查基础功能，同时拓展分类检索、阅读状态跟踪与藏书数据统计模块。以简洁的交互设计降低使用门槛，专注解决个人图书管理的核心痛点。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572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5F3FF">
              <a:alpha val="100000"/>
            </a:srgbClr>
          </a:solidFill>
          <a:ln w="12700" cap="flat" cmpd="sng">
            <a:solidFill>
              <a:srgbClr val="C4B5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826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29500" y="4762500"/>
            <a:ext cx="37465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C3AED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轻量技术栈，保障隐私便捷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采用Python+Flask+SQLite的轻量级技术组合，无需复杂的服务器配置，支持本地运行并通过浏览器直接访问。这种部署方式不仅降低了使用成本，更从源头保障了个人藏书数据的隐私与安全。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需求分析：已完成功能清单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从基础操作到高级管理，全方位覆盖图书管理系统的核心业务场景</a:t>
            </a:r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494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基础数据操作 (CRUD)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实现图书的核心增删改查功能，支持单条数据的快速录入、编辑与移除，是系统运行的基石。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953000" y="18034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953000" y="18669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 核心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8829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图书列表概览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以列表形式清晰展示所有图书信息，支持关键信息的快速预览，为后续检索与筛选提供基础视图。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953000" y="31115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31750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 核心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386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038600"/>
            <a:ext cx="76200" cy="1270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1275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批量数据管理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支持多本图书的批量删除操作，同时提供CSV格式的数据导出功能，方便进行数据备份与离线分析。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953000" y="43434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3B82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953000" y="44069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 重要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324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232400"/>
            <a:ext cx="76200" cy="1270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3213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数据安全防护机制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全链路采用参数化查询处理用户输入，有效防御SQL注入风险，保障系统数据的安全性与完整性。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953000" y="55245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EF444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953000" y="55880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 核心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4605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23000" y="1460500"/>
            <a:ext cx="76200" cy="1270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15494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多维高级检索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支持按书名、作者进行关键词模糊搜索，同时支持阅读状态、标签等多维度组合筛选，快速定位目标图书。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350500" y="18034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350500" y="18669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 核心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27940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23000" y="2794000"/>
            <a:ext cx="76200" cy="1270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7000" y="28829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数据可视化看板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集成图书统计看板、阅读进度条及状态彩色徽章，将枯燥的文字数据转化为直观的视觉图表，提升阅读体验。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350500" y="31115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F59E0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350500" y="31750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 重要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0386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223000" y="4038600"/>
            <a:ext cx="76200" cy="12700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477000" y="41275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分类与标签体系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构建灵活的图书分类结构，实现图书与标签的多对多关联管理，帮助用户对海量图书进行精细化、个性化归类。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350500" y="43434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8B5C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350500" y="44069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 重要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23000" y="5232400"/>
            <a:ext cx="5207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223000" y="5232400"/>
            <a:ext cx="76200" cy="1270000"/>
          </a:xfrm>
          <a:prstGeom prst="roundRect">
            <a:avLst>
              <a:gd name="adj" fmla="val 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477000" y="5321300"/>
            <a:ext cx="393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系统基础支撑功能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提供完善的分页加载功能，优化大数据量下的系统性能；同时支持基础的系统配置，保障稳定运行。</a:t>
            </a:r>
          </a:p>
        </p:txBody>
      </p:sp>
      <p:sp>
        <p:nvSpPr>
          <p:cNvPr id="41" name="AutoShape 41"/>
          <p:cNvSpPr/>
          <p:nvPr/>
        </p:nvSpPr>
        <p:spPr>
          <a:xfrm>
            <a:off x="10350500" y="5524500"/>
            <a:ext cx="889000" cy="508000"/>
          </a:xfrm>
          <a:prstGeom prst="roundRect">
            <a:avLst>
              <a:gd name="adj" fmla="val 25000"/>
            </a:avLst>
          </a:prstGeom>
          <a:solidFill>
            <a:srgbClr val="6B728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350500" y="5588000"/>
            <a:ext cx="88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 辅助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系统架构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500"/>
              </a:spcBef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经典三层架构设计，打造高内聚、低耦合的稳健系统体系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540000" cy="3556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1778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25500" y="2667000"/>
            <a:ext cx="2413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 (Browser)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HTML + Jinja2 + JS</a:t>
            </a:r>
          </a:p>
          <a:p>
            <a:pPr indent="0" algn="just">
              <a:lnSpc>
                <a:spcPct val="116666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构建直观的用户交互界面，利用Jinja2模板引擎实现后端数据的动态渲染，配合原生JavaScript处理页面交互逻辑，提升用户操作体验。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3429000" y="1524000"/>
            <a:ext cx="2540000" cy="3556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94200" y="1778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492500" y="2667000"/>
            <a:ext cx="2413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(Backend)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+ Flask 框架</a:t>
            </a:r>
          </a:p>
          <a:p>
            <a:pPr indent="0" algn="just">
              <a:lnSpc>
                <a:spcPct val="116666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基于轻量级Flask框架搭建核心服务，通过路由分发与视图函数处理HTTP请求，封装核心业务规则，实现高效、灵活的后端逻辑处理与响应。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EFF6FF">
              <a:alpha val="100000"/>
            </a:srgbClr>
          </a:solidFill>
          <a:ln cap="flat" cmpd="sng">
            <a:solidFill>
              <a:srgbClr val="C0D0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5232400"/>
            <a:ext cx="444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 (Database) —— 安全高效的存储基石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5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采用轻量级SQLite数据库进行数据持久化，通过参数化查询机制执行CRUD操作，在保障数据读写性能的同时，有效规避SQL注入风险，为业务提供可靠的数据支撑。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159500" y="5080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0FDF4">
              <a:alpha val="100000"/>
            </a:srgbClr>
          </a:solidFill>
          <a:ln cap="flat" cmpd="sng">
            <a:solidFill>
              <a:srgbClr val="C1E4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5270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5232400"/>
            <a:ext cx="4445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数据闭环与架构优势 —— 解耦易扩展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5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数据流向：浏览器 ↔ Flask后端 ↔ SQLite数据库。分层架构设计让各模块职责清晰，实现了展示、逻辑、数据的完全解耦，极大降低了系统维护成本，便于后续功能迭代与扩展。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159500" y="1524000"/>
            <a:ext cx="5207000" cy="3556000"/>
          </a:xfrm>
          <a:prstGeom prst="roundRect">
            <a:avLst>
              <a:gd name="adj" fmla="val 4285"/>
            </a:avLst>
          </a:prstGeom>
          <a:solidFill>
            <a:srgbClr val="F8FAFC">
              <a:alpha val="100000"/>
            </a:srgbClr>
          </a:solidFill>
          <a:ln cap="flat" cmpd="sng">
            <a:solidFill>
              <a:srgbClr val="C8D5E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1778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18415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架构设计核心目标：稳健性与可维护性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2667000"/>
            <a:ext cx="4953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摒弃了臃肿的单体架构，采用经典的三层分层设计，旨在解决软件开发中的核心痛点。表现层专注于用户体验，业务逻辑层聚焦于规则处理，数据访问层保障数据安全。这种设计不仅让代码结构更加清晰，还能有效隔离错误，当某一层出现问题时，不会直接影响到其他层级，极大提升了系统的稳定性。同时，模块化的设计也为后续功能的增加和技术的迭代提供了极大的便利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数据库设计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分类表 (category)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id: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主键 (PK)，自增整数，唯一标识图书分类，如“计算机”、“文学”等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name: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分类名称 (VARCHAR)，用于展示分类标识，确保名称唯一且非空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985000" y="1752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图书表 (book)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349500"/>
            <a:ext cx="4699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基础核心：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id(PK)、title(书名)、author(作者)、isbn(唯一编号)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关联字段：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category_id(FK) 关联分类表，建立分类归属关系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管理信息：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location(存放位置)、status(借阅状态)、created_at(录入时间)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6000" y="44450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1524000" y="4419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标签体系表 (Tags System)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包含标签表(tag)与关联表(book_tag)。标签表存储标签名称；关联表通过 book_id 与 tag_id 实现图书与标签的多对多关联，让单本图书可关联多个标签，单个标签也可对应多本图书。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77000" y="4445000"/>
            <a:ext cx="3302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4419600"/>
            <a:ext cx="419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核心表间关系 (Relations)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80000"/>
            <a:ext cx="4699000" cy="1079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分类与图书是</a:t>
            </a:r>
            <a:r>
              <a:rPr lang="en-US" sz="13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一对多(1:N)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关系，一个分类包含多本图书；图书与标签是</a:t>
            </a:r>
            <a:r>
              <a:rPr lang="en-US" sz="13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多对多(M:N)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关系，通过中间表实现灵活的标签关联管理。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功能演示：CRUD与搜索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17526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460500" y="1727200"/>
            <a:ext cx="203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图书列表看板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2413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以表格形式清晰展示图书全量字段信息，顶部集成实时统计看板，直观呈现图书总数及各类状态占比。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73500" y="17526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318000" y="1727200"/>
            <a:ext cx="203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快速增编管理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73500" y="2222500"/>
            <a:ext cx="2413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通过轻量化弹窗快速完成图书添加或编辑，支持标签动态输入，系统可自动识别并创建新的分类标签。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37846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1460500" y="3759200"/>
            <a:ext cx="203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精准模糊搜索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254500"/>
            <a:ext cx="2413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支持按书名、作者等关键字进行智能模糊检索，高效匹配相关内容，帮助用户快速定位目标图书资源。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3500" y="3784600"/>
            <a:ext cx="406400" cy="406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4318000" y="3759200"/>
            <a:ext cx="203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核心数据操作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73500" y="4254500"/>
            <a:ext cx="2413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集成标准化的CRUD基础功能，保障图书数据的创建、读取、更新与删除操作流畅稳定，夯实管理基石。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5651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52500" y="5651500"/>
            <a:ext cx="457200" cy="457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1524000" y="5588000"/>
            <a:ext cx="4826000" cy="952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全场景图书管理体验升级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从数据的可视化展示到高效检索，再到便捷的增删改操作，构建完整的图书管理闭环，让藏书管理更简单、更高效。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796391" y="2162242"/>
            <a:ext cx="5129720" cy="2409758"/>
          </a:xfrm>
          <a:prstGeom prst="roundRect">
            <a:avLst>
              <a:gd name="adj" fmla="val 3333"/>
            </a:avLst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112000" y="5207000"/>
            <a:ext cx="431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界面设计理念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遵循极简主义设计，通过清晰的布局减少用户的认知负担，提升操作效率。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功能演示：筛选与标签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从单一到组合，打造高效的藏书检索体验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52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272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状态筛选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2349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通过顶部下拉框，快速筛选“未读”“在读”或“已读”状态的图书，轻松管理不同阅读进度的书籍。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500" y="1752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81500" y="17272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标签筛选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73500" y="2286000"/>
            <a:ext cx="2349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页面下方陈列全量标签，点击即可筛选对应图书；选中的标签会以蓝色高亮显示，直观反馈当前筛选维度。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784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37592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组合筛选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318000"/>
            <a:ext cx="2349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搜索关键词、阅读状态、分类标签支持同时生效，实现多维度的精准组合查询，从海量藏书中快速锁定目标。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73500" y="3784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81500" y="3759200"/>
            <a:ext cx="1905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交互体验优化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73500" y="4318000"/>
            <a:ext cx="23495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筛选条件即时生效无需提交，支持一键清空已选条件，操作流程流畅丝滑，大幅提升用户的检索效率。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5651500" cy="1079500"/>
          </a:xfrm>
          <a:prstGeom prst="roundRect">
            <a:avLst>
              <a:gd name="adj" fmla="val 9411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651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5588000"/>
            <a:ext cx="4699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多维度筛选体系，重构藏书检索逻辑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告别单一的搜索框，通过状态、标签、关键词的有机结合，构建起全方位的藏书管理网络，让每一本书都触手可及。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531312" y="2892560"/>
            <a:ext cx="5542875" cy="1425440"/>
          </a:xfrm>
          <a:prstGeom prst="roundRect">
            <a:avLst>
              <a:gd name="adj" fmla="val 4615"/>
            </a:avLst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112000" y="5334000"/>
            <a:ext cx="4318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无论是想找正在阅读的小说，还是某一类别的专业书籍，通过这套筛选系统，都能在几秒钟内完成检索，让阅读管理更加轻松高效。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功能演示：进度条与分页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从视觉反馈到列表管理，打造更直观的阅读数据可视化体验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2730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51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651000"/>
            <a:ext cx="1968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阅读进度追踪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241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设计双层进度条体系：总体进度条随已读占比动态变色（红/橙/绿区间），单本书籍搭配迷你进度条，实时反馈当前阅读的完成度。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1460500"/>
            <a:ext cx="2730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500" y="1651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18000" y="1651000"/>
            <a:ext cx="1968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状态徽章标识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10000" y="2159000"/>
            <a:ext cx="241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建立多色状态徽章体系，通过蓝、绿、灰等不同视觉标识，快速区分“在读”“已读”“未读”等书籍状态，让信息识别更高效、更直观。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2730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74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3746500"/>
            <a:ext cx="1968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智能分页导航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191000"/>
            <a:ext cx="241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支持分页展示海量藏书，默认每页呈现5条记录。配备首页、末页快速跳转与页码折叠功能，无论藏书多少，都能实现精准的内容定位。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556000"/>
            <a:ext cx="2730500" cy="1968500"/>
          </a:xfrm>
          <a:prstGeom prst="roundRect">
            <a:avLst>
              <a:gd name="adj" fmla="val 516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73500" y="374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18000" y="3746500"/>
            <a:ext cx="19685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视觉交互升级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10000" y="4191000"/>
            <a:ext cx="241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将进度条的动态变化与徽章的色彩提示深度融合，搭配清晰的分页布局，降低信息干扰，让阅读管理的操作流程更加流畅、符合直觉。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5651500" cy="952500"/>
          </a:xfrm>
          <a:prstGeom prst="roundRect">
            <a:avLst>
              <a:gd name="adj" fmla="val 10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740400"/>
            <a:ext cx="381000" cy="381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5715000"/>
            <a:ext cx="4826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核心价值：让阅读数据“看得见”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通过可视化的进度条与状态标识，结合高效的分页管理，彻底解决藏书多、状态乱的痛点，打造轻量化的阅读管理解决方案。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604000" y="2698750"/>
            <a:ext cx="5477753" cy="1714500"/>
          </a:xfrm>
          <a:prstGeom prst="roundRect">
            <a:avLst>
              <a:gd name="adj" fmla="val 4800"/>
            </a:avLst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112000" y="5016500"/>
            <a:ext cx="4318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在界面设计上，我们将进度条作为视觉焦点，配合醒目的状态徽章，让用户一眼就能掌握书籍的阅读情况；同时底部的分页导航简洁明了，确保在数据量大时依然保持操作的高效性。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8FAF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63500" rIns="0" bIns="6350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04 功能演示：批量操作与初始化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从繁琐的单条操作中解放，一键完成数据的高效管理与环境配置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2004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651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6256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批量删除机制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095500"/>
            <a:ext cx="2857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支持单条或多条记录勾选，配合“全选”功能快速清理数据。删除前强制二次确认弹窗，有效防止误操作导致的数据丢失风险。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89400" y="1397000"/>
            <a:ext cx="3200400" cy="1968500"/>
          </a:xfrm>
          <a:prstGeom prst="roundRect">
            <a:avLst>
              <a:gd name="adj" fmla="val 645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9900" y="1651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16256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无损CSV导出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79900" y="2095500"/>
            <a:ext cx="28575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支持将当前筛选结果一键导出为CSV文件。采用UTF-8 BOM编码格式，完美解决Excel打开时的中文乱码问题，满足外部数据分析需求。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6527800" cy="1714500"/>
          </a:xfrm>
          <a:prstGeom prst="roundRect">
            <a:avLst>
              <a:gd name="adj" fmla="val 7407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3810000"/>
            <a:ext cx="558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首次运行 · 自动建表初始化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318000"/>
            <a:ext cx="6096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告别繁琐的手动建表流程！程序启动时会自动检测数据库状态，若文件不存在则即刻创建完整的数据库实例与标准数据表结构。无需编写SQL语句，部署过程零门槛，新手也能轻松上手。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97500"/>
            <a:ext cx="6527800" cy="1079500"/>
          </a:xfrm>
          <a:prstGeom prst="roundRect">
            <a:avLst>
              <a:gd name="adj" fmla="val 11764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58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5524500"/>
            <a:ext cx="571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效率提升：从“点选”到“批量”的质变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通过批量操作减少重复点击，配合智能初始化，大幅降低系统运维与数据管理的时间成本，专注于核心业务处理。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0" y="1397000"/>
            <a:ext cx="3937000" cy="5080000"/>
          </a:xfrm>
          <a:prstGeom prst="roundRect">
            <a:avLst>
              <a:gd name="adj" fmla="val 3225"/>
            </a:avLst>
          </a:prstGeom>
          <a:solidFill>
            <a:srgbClr val="F3F4F6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10500" y="1651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01000" y="1930400"/>
            <a:ext cx="711200" cy="711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90000" y="1841500"/>
            <a:ext cx="2540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数据管理新范式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化繁为简，让技术服务于人。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7810500" y="3175000"/>
            <a:ext cx="3556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设计理念：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我们深知用户在数据管理中面临的痛点——重复操作多、配置门槛高。因此，我们将“批量处理”与“自动初始化”作为核心功能，旨在消除这些阻碍，让系统成为用户的得力助手而非负担。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7810500" y="5334000"/>
            <a:ext cx="3556000" cy="1016000"/>
          </a:xfrm>
          <a:prstGeom prst="roundRect">
            <a:avLst>
              <a:gd name="adj" fmla="val 625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001000" y="5461000"/>
            <a:ext cx="330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🎯 目标达成：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实现数据操作效率提升 60%，部署时间缩短至 10 秒以内。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测试结果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📊 测试数据概览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921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2857500"/>
            <a:ext cx="3683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核心测试指标全优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本次共执行33个核心测试用例，覆盖正向功能与异常边界场景。测试结果显示通过率达100%，且未发现任何零缺陷，数据表现完美。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4572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82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905000" y="4699000"/>
            <a:ext cx="3683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功能模块全覆盖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已完成图书管理、搜索筛选、标签系统、统计看板等核心模块的深度测试，同时覆盖了分页、导出CSV、批量删除等高频操作及关键边界场景。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905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✅ 测试结论与建议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667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2921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66000" y="2857500"/>
            <a:ext cx="3683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系统符合交付标准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经过全面的功能测试和边界场景验证，系统运行状态稳定，所有功能点均严格按照需求文档实现，无任何功能性缺陷，完全满足设计预期。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477000" y="4572000"/>
            <a:ext cx="4699000" cy="1714500"/>
          </a:xfrm>
          <a:prstGeom prst="roundRect">
            <a:avLst>
              <a:gd name="adj" fmla="val 5925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4826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4699000"/>
            <a:ext cx="3683000" cy="139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后续行动计划建议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建议立即启动系统部署上线流程。同时建议建立日常维护与迭代机制，在后续使用中持续收集用户反馈，进一步优化用户体验与系统性能。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06 成员分工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明确角色定位，高效协作，共同推进项目落地交付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1054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700" y="1790700"/>
            <a:ext cx="330200" cy="330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651000"/>
            <a:ext cx="3937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刘璟轩 ·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全栈开发核心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负责全栈开发与数据库架构设计，搭建项目核心技术底座。产出main.py、index.html等核心源码及数据库迁移脚本，累计完成11次Git提交，是项目代码的主要贡献者。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07100" y="1397000"/>
            <a:ext cx="51054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61100" y="1651000"/>
            <a:ext cx="609600" cy="6096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0800" y="1790700"/>
            <a:ext cx="330200" cy="330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651000"/>
            <a:ext cx="3937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李淑湘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需求与设计负责人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主导前期需求调研与分析，梳理复杂业务逻辑并完成功能模块设计。输出需求规格说明书、详细功能清单及业务流程拓扑图，完成4次Git提交，为项目提供了清晰的执行蓝图与方向。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51054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609600" cy="6096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700" y="4330700"/>
            <a:ext cx="330200" cy="330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4191000"/>
            <a:ext cx="3937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程智鸿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专注于项目质量把控，负责全流程测试工作。制定详细的测试计划书，编写核心功能测试用例并输出阶段性测试分析报告，完成4次Git提交，有效降低Bug率，为系统稳定性筑牢防线。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007100" y="3937000"/>
            <a:ext cx="51054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61100" y="4191000"/>
            <a:ext cx="609600" cy="609600"/>
          </a:xfrm>
          <a:prstGeom prst="ellipse">
            <a:avLst/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00800" y="4330700"/>
            <a:ext cx="330200" cy="330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191000"/>
            <a:ext cx="3937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旷凯翔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文档与运营支持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负责项目文档的规范化撰写与团队沟通协作。产出用户操作手册、项目会议纪要及软件功能使用说明书，完成4次Git提交，完善了项目的知识沉淀体系，保障了信息同步的及时性。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9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06 项目总结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回顾项目全流程，从功能落地到技术沉淀，梳理成果与展望未来方向</a:t>
            </a:r>
          </a:p>
        </p:txBody>
      </p:sp>
      <p:sp>
        <p:nvSpPr>
          <p:cNvPr id="4" name="AutoShape 4"/>
          <p:cNvSpPr/>
          <p:nvPr/>
        </p:nvSpPr>
        <p:spPr>
          <a:xfrm>
            <a:off x="660400" y="1651000"/>
            <a:ext cx="2108200" cy="4445000"/>
          </a:xfrm>
          <a:prstGeom prst="roundRect">
            <a:avLst>
              <a:gd name="adj" fmla="val 72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60400" y="1651000"/>
            <a:ext cx="21082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700" y="2032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29210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完成情况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1905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核心CRUD及6个扩展功能均已落地，共计14个关键功能点全部实现，达成了项目初期规划的基础交付目标。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94000" y="1651000"/>
            <a:ext cx="2108200" cy="4445000"/>
          </a:xfrm>
          <a:prstGeom prst="roundRect">
            <a:avLst>
              <a:gd name="adj" fmla="val 72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794000" y="1651000"/>
            <a:ext cx="210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3300" y="2032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895600" y="2921000"/>
            <a:ext cx="1905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895600" y="3683000"/>
            <a:ext cx="1905000" cy="203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采用参数化查询有效防御SQL注入，实现动态SQL多条件灵活筛选；支持首次运行自动建表，并攻克了Excel导入的UTF-8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BOM乱码难题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953000" y="1651000"/>
            <a:ext cx="622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080000" y="1778000"/>
            <a:ext cx="29845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🤝 </a:t>
            </a:r>
            <a:r>
              <a:rPr lang="en-US" sz="1500" b="1" i="0" u="none" strike="noStrike" dirty="0" err="1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协作方式</a:t>
            </a:r>
            <a:endParaRPr lang="en-US" sz="1100" dirty="0"/>
          </a:p>
          <a:p>
            <a:pPr indent="0" algn="ctr">
              <a:lnSpc>
                <a:spcPct val="108333"/>
              </a:lnSpc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使用GitHub统一管理代码与项目文档，完成</a:t>
            </a:r>
            <a:r>
              <a:rPr lang="zh-CN" altLang="en-US" sz="12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若干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次代码提交，创建了3个关键版本标签，实现了开发过程的可追溯与团队高效协同。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29845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📝 经验收获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深度实践了全栈开发的完整工作流，熟练掌握Git团队协作规范，在开发中严格遵循软件工程文档标准，显著提升了规范化编码与项目管理的意识。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953000" y="3937000"/>
            <a:ext cx="6223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080000" y="4127500"/>
            <a:ext cx="5969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🚀 未来展望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具备良好的扩展空间，未来可重点推进移动端的多端适配，开发跨设备的云同步功能，同时增加社交分享模块，打通用户间的内容流转，进一步丰富产品的使用场景与用户体验。此外，还可探索AI辅助功能，提升系统的智能化水平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1275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请各位老师批评指正，您的建议是我们进步的动力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GitHub仓库：https://github.com/immortal-water/iw_book_manager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93C5FD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 &amp; WELCOME TO SUGGEST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1470</Words>
  <Application>Microsoft Office PowerPoint</Application>
  <PresentationFormat>宽屏</PresentationFormat>
  <Paragraphs>226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Noto Sans SC</vt:lpstr>
      <vt:lpstr>Songti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Immortal Water</cp:lastModifiedBy>
  <cp:revision>6</cp:revision>
  <dcterms:modified xsi:type="dcterms:W3CDTF">2026-05-13T02:25:47Z</dcterms:modified>
</cp:coreProperties>
</file>