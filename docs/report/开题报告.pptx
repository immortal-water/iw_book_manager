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84" y="2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09.05.2026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是刘璟轩。今天我将向各位老师汇报我的《信息系统实践》课程项目——“个人图书管理助手”的开题报告。这个项目旨在解决个人图书和电子资料管理不便的问题，通过开发一个轻量级的Web应用，实现图书的系统化管理。接下来，我将从项目背景、目标、技术方案等几个方面进行详细阐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报告将分为七个部分。首先，我会介绍项目的背景与意义，阐述为什么要做这个项目。接着，会明确项目要实现的具体目标和核心功能。然后，我会详细说明选用的技术路线和初步的数据库设计。最后，将展示项目的整体进度安排以及下一步的具体工作计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来看项目背景。在日常生活中，我们每个人或多或少都会积累一些纸质书或电子书。当数量增多时，管理起来就变得非常麻烦。传统的方法，比如用Excel表格或者手机备忘录，虽然简单，但功能非常有限，很难做到高效的分类和检索。因此，我认为有必要开发一个专门的个人图书管理工具，来解决这个痛点，让图书管理变得更加轻松和高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上述背景，我为项目设定了五个主要目标。首先，最基础的是实现图书信息的增删改查功能，这是系统的基石。其次，要支持按书名和作者进行快速检索，方便用户快速定位目标。第三，系统需要具备分类管理的能力，让用户可以自定义图书类别，对书籍进行分门别类的管理。第四，我计划加入一个统计看板，让用户直观地看到自己的藏书总量和分布情况。最后，整个系统将以Web应用的形式呈现，并且可以在本地部署运行，保证数据的安全性和使用的便捷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更清晰地规划开发任务，我将项目的核心功能进行了梳理，并划分了优先级。如图所示，图书的增删改查以及数据持久化被列为最高优先级，这些是系统的基础。搜索、分类和统计功能的优先级为中，它们将作为提升用户体验的重要补充。这个清单将作为我后续开发工作的主要依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技术选型上，我选择了一套轻量级且成熟的技术栈。后端使用Python和Flask框架，这能让我快速地开发出所需的API接口。数据库选用SQLite，它的零配置特性非常适合本项目的本地部署需求。前端则采用原生的HTML、CSS和JavaScript，并结合Jinja2模板引擎来渲染页面。版本控制将通过Git和GitHub来完成。整个架构非常清晰，就是浏览器通过HTTP请求访问Flask后端，后端再与SQLite数据库进行交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数据库的初步设计。我规划了两个核心表：分类表和图书表。分类表很简单，只有ID和分类名称。图书表包含了书名、作者、ISBN等关键信息，并通过category_id字段与分类表建立一对多的关联。此外，还设计了location和status字段，分别用于记录图书的物理位置和阅读状态，状态包括未读、在读和已读三种。这个设计足够支撑当前规划的所有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项目能够按时完成，我制定了详细的进度安排。整个项目分为四个阶段：计划与设计、开发实现、测试与文档、最终验收。目前我们正处于第一阶段的尾声。接下来的开发实现阶段将是核心工作，预计在五一假期结束前完成。之后是一周的测试和文档撰写时间，最后在5月13日前完成所有工作并准备最终汇报。右侧展示了我在项目管理工具中使用的甘特图，以此来对任务进行可视化的追踪和管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计划与设计阶段，我已经完成了多项工作。包括项目的选题和需求分析，撰写了这份开题报告，设计了数据库表结构，并最终确定了技术路线。我也已经在GitHub上创建了项目仓库，为后续的开发工作做好了准备。目前，所有的准备工作都已就绪，即将进入代码开发阶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的工作将主要围绕开发实现阶段展开。第一步是搭建好Flask的项目框架。然后，我会集中精力实现图书的增删改查这四个核心后端API。API完成后，将开始编写前端页面，并进行前后端的联调测试。同时，我会同步推进文档工作，确保在5月6日前完成中期报告的撰写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我的汇报到此结束。以上就是我对“个人图书管理助手”项目的全部规划和设计。非常感谢各位老师的聆听，恳请各位老师提出宝贵的意见和建议。谢谢大家！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svg"/><Relationship Id="rId3" Type="http://schemas.openxmlformats.org/officeDocument/2006/relationships/image" Target="../media/image2.jpeg"/><Relationship Id="rId7" Type="http://schemas.openxmlformats.org/officeDocument/2006/relationships/image" Target="../media/image10.sv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5" Type="http://schemas.openxmlformats.org/officeDocument/2006/relationships/image" Target="../media/image6.svg"/><Relationship Id="rId10" Type="http://schemas.openxmlformats.org/officeDocument/2006/relationships/image" Target="../media/image13.png"/><Relationship Id="rId4" Type="http://schemas.openxmlformats.org/officeDocument/2006/relationships/image" Target="../media/image5.png"/><Relationship Id="rId9" Type="http://schemas.openxmlformats.org/officeDocument/2006/relationships/image" Target="../media/image12.svg"/><Relationship Id="rId14" Type="http://schemas.openxmlformats.org/officeDocument/2006/relationships/image" Target="../media/image1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2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29.svg"/><Relationship Id="rId5" Type="http://schemas.openxmlformats.org/officeDocument/2006/relationships/image" Target="../media/image25.svg"/><Relationship Id="rId10" Type="http://schemas.openxmlformats.org/officeDocument/2006/relationships/image" Target="../media/image28.png"/><Relationship Id="rId4" Type="http://schemas.openxmlformats.org/officeDocument/2006/relationships/image" Target="../media/image24.png"/><Relationship Id="rId9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svg"/><Relationship Id="rId3" Type="http://schemas.openxmlformats.org/officeDocument/2006/relationships/image" Target="../media/image2.jpeg"/><Relationship Id="rId7" Type="http://schemas.openxmlformats.org/officeDocument/2006/relationships/image" Target="../media/image38.sv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7.png"/><Relationship Id="rId11" Type="http://schemas.openxmlformats.org/officeDocument/2006/relationships/image" Target="../media/image42.svg"/><Relationship Id="rId5" Type="http://schemas.openxmlformats.org/officeDocument/2006/relationships/image" Target="../media/image36.sv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个人图书管理助手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921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0" i="0" u="none" strike="noStrike">
                <a:solidFill>
                  <a:srgbClr val="E5E7EB">
                    <a:alpha val="9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《信息系统实践》课程开题报告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4318000"/>
            <a:ext cx="10668000" cy="1905000"/>
          </a:xfrm>
          <a:prstGeom prst="roundRect">
            <a:avLst>
              <a:gd name="adj" fmla="val 8000"/>
            </a:avLst>
          </a:prstGeom>
          <a:solidFill>
            <a:srgbClr val="1F2937">
              <a:alpha val="85000"/>
            </a:srgbClr>
          </a:solidFill>
          <a:ln w="12700" cap="flat" cmpd="sng">
            <a:solidFill>
              <a:srgbClr val="14B8A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43000" y="4699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小组成员</a:t>
            </a:r>
            <a:r>
              <a:rPr lang="en-US" sz="1600" b="1" i="0" u="none" strike="noStrike" dirty="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b="0" i="0" u="none" strike="noStrike" dirty="0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刘璟轩、李淑湘、程智鸿、旷凯翔</a:t>
            </a:r>
            <a:endParaRPr lang="en-US" sz="1600" dirty="0">
              <a:solidFill>
                <a:srgbClr val="F3F4F6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143000" y="5461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指导老师：</a:t>
            </a:r>
            <a:r>
              <a:rPr lang="en-US" sz="16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尹兆远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4699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学　　院：</a:t>
            </a:r>
            <a:r>
              <a:rPr lang="en-US" sz="16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计算机学院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5461000"/>
            <a:ext cx="457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日　　期：</a:t>
            </a:r>
            <a:r>
              <a:rPr lang="en-US" sz="1600" b="0" i="0" u="none" strike="noStrike">
                <a:solidFill>
                  <a:srgbClr val="F3F4F6"/>
                </a:solidFill>
                <a:latin typeface="Noto Sans SC"/>
                <a:ea typeface="Noto Sans SC"/>
                <a:cs typeface="Noto Sans SC"/>
                <a:sym typeface="Noto Sans SC"/>
              </a:rPr>
              <a:t>2026年4月24日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905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2159000" y="63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0" i="0" u="none" strike="noStrike" spc="30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905000" y="1841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项目背景与意义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个人藏书/电子资料增多，缺乏专门的管理工具，急需数字化方案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52500" y="3238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905000" y="3238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项目目标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实现图书的增删改查、检索、分类和数据统计分析功能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4635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905000" y="4635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需求分析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梳理核心功能清单，划分功能优先级与用户体验考量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223000" y="165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13500" y="1841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366000" y="1841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后端架构、数据库选型、前端框架及版本控制方案详述</a:t>
            </a:r>
          </a:p>
        </p:txBody>
      </p:sp>
      <p:sp>
        <p:nvSpPr>
          <p:cNvPr id="16" name="AutoShape 16"/>
          <p:cNvSpPr/>
          <p:nvPr/>
        </p:nvSpPr>
        <p:spPr>
          <a:xfrm>
            <a:off x="6223000" y="3048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6413500" y="3238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3238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数据库设计（初步）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定义系统主要实体与关系，设计E-R图与数据表结构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223000" y="4445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13500" y="4635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366000" y="46355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进度安排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制定从需求设计到最终验收的全流程阶段时间规划</a:t>
            </a:r>
          </a:p>
        </p:txBody>
      </p:sp>
      <p:sp>
        <p:nvSpPr>
          <p:cNvPr id="22" name="AutoShape 22"/>
          <p:cNvSpPr/>
          <p:nvPr/>
        </p:nvSpPr>
        <p:spPr>
          <a:xfrm>
            <a:off x="3492500" y="5715000"/>
            <a:ext cx="5207000" cy="1016000"/>
          </a:xfrm>
          <a:prstGeom prst="roundRect">
            <a:avLst>
              <a:gd name="adj" fmla="val 10000"/>
            </a:avLst>
          </a:prstGeom>
          <a:solidFill>
            <a:srgbClr val="FFFFFF">
              <a:alpha val="9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3683000" y="5842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07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699000" y="5842000"/>
            <a:ext cx="381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下一步计划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明确后续开发工作的重点任务与具体实施安排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01 项目背景与意义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💡 问题现状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l="7575" r="7575"/>
          <a:stretch>
            <a:fillRect/>
          </a:stretch>
        </p:blipFill>
        <p:spPr>
          <a:xfrm>
            <a:off x="1016000" y="2794000"/>
            <a:ext cx="1778000" cy="1397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6" name="AutoShape 6"/>
          <p:cNvSpPr/>
          <p:nvPr/>
        </p:nvSpPr>
        <p:spPr>
          <a:xfrm>
            <a:off x="3048000" y="27940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个人藏书 / 电子资料增多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随着数字化阅读的普及，个人积累的书籍和电子资料越来越多，管理难度增大，难以快速查找。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 l="22630" r="22630"/>
          <a:stretch>
            <a:fillRect/>
          </a:stretch>
        </p:blipFill>
        <p:spPr>
          <a:xfrm>
            <a:off x="1016000" y="4572000"/>
            <a:ext cx="1778000" cy="1397000"/>
          </a:xfrm>
          <a:prstGeom prst="roundRect">
            <a:avLst>
              <a:gd name="adj" fmla="val 7272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8" name="AutoShape 8"/>
          <p:cNvSpPr/>
          <p:nvPr/>
        </p:nvSpPr>
        <p:spPr>
          <a:xfrm>
            <a:off x="3048000" y="4572000"/>
            <a:ext cx="2667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现有管理方案不足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使用Excel表格或备忘录等通用工具，缺乏专业的分类检索、状态跟踪功能，效率低下且容易出错。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1905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🎯 项目意义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1651000"/>
          </a:xfrm>
          <a:prstGeom prst="roundRect">
            <a:avLst>
              <a:gd name="adj" fmla="val 6153"/>
            </a:avLst>
          </a:prstGeom>
          <a:solidFill>
            <a:srgbClr val="F0FDFA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3048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93000" y="2984500"/>
            <a:ext cx="342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0D9488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开发轻量级图书管理助手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针对个人用户需求，打造一个轻量级、易上手的图书管理系统，填补通用工具与专业软件之间的空白，满足系统化管理需求。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6477000" y="4699000"/>
            <a:ext cx="4699000" cy="1397000"/>
          </a:xfrm>
          <a:prstGeom prst="roundRect">
            <a:avLst>
              <a:gd name="adj" fmla="val 7272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50165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493000" y="4889500"/>
            <a:ext cx="342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7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提升个人藏书管理效率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提供高效的分类、检索与统计功能，帮助用户快速整理和定位书籍，显著降低信息管理成本，让阅读回归纯粹。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02 项目目标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2730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7526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7272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基础信息管理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实现图书的新增、编辑、删除和查看功能，建立完善的图书信息库。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683000" y="1524000"/>
            <a:ext cx="2730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873500" y="17526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381500" y="17272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精准检索定位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873500" y="2286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支持按书名、作者进行关键词检索，帮助用户快速找到目标图书。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556000"/>
            <a:ext cx="2730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37846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460500" y="37592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多维分类管理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318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自定义图书分类标签（如编程语言、小说等），实现藏书的结构化管理。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683000" y="3556000"/>
            <a:ext cx="2730500" cy="1778000"/>
          </a:xfrm>
          <a:prstGeom prst="roundRect">
            <a:avLst>
              <a:gd name="adj" fmla="val 5714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873500" y="37846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381500" y="3759200"/>
            <a:ext cx="190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数据统计看板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873500" y="4318000"/>
            <a:ext cx="2349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提供直观的统计视图，清晰展示个人藏书的总数量及各类别的占比分布。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461000"/>
            <a:ext cx="56515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52500" y="5715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587500" y="56134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轻量级Web化与本地化部署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提供简洁易用的Web界面，支持在个人电脑本地独立部署运行，无需依赖外部网络，确保数据私密性。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4"/>
          <a:srcRect l="16658" r="16658"/>
          <a:stretch>
            <a:fillRect/>
          </a:stretch>
        </p:blipFill>
        <p:spPr>
          <a:xfrm>
            <a:off x="7112000" y="1905000"/>
            <a:ext cx="4318000" cy="3048000"/>
          </a:xfrm>
          <a:prstGeom prst="rect">
            <a:avLst/>
          </a:prstGeom>
          <a:noFill/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24" name="AutoShape 24"/>
          <p:cNvSpPr/>
          <p:nvPr/>
        </p:nvSpPr>
        <p:spPr>
          <a:xfrm>
            <a:off x="7112000" y="52070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系统界面预览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简洁直观的操作面板，集成所有核心功能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03 核心功能清单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651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图书列表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展示所有图书信息，提供清晰概览</a:t>
            </a:r>
          </a:p>
        </p:txBody>
      </p:sp>
      <p:sp>
        <p:nvSpPr>
          <p:cNvPr id="6" name="AutoShape 6"/>
          <p:cNvSpPr/>
          <p:nvPr/>
        </p:nvSpPr>
        <p:spPr>
          <a:xfrm>
            <a:off x="4699000" y="1841500"/>
            <a:ext cx="1016000" cy="508000"/>
          </a:xfrm>
          <a:prstGeom prst="roundRect">
            <a:avLst>
              <a:gd name="adj" fmla="val 25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699000" y="19304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高优先级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8575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28575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1016000" y="2984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添加图书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录入书名 / 作者 / ISBN / 分类 / 位置 / 状态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699000" y="3175000"/>
            <a:ext cx="1016000" cy="508000"/>
          </a:xfrm>
          <a:prstGeom prst="roundRect">
            <a:avLst>
              <a:gd name="adj" fmla="val 25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699000" y="32639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高优先级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419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4318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编辑图书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修改已录入的图书基本信息与状态</a:t>
            </a:r>
          </a:p>
        </p:txBody>
      </p:sp>
      <p:sp>
        <p:nvSpPr>
          <p:cNvPr id="16" name="AutoShape 16"/>
          <p:cNvSpPr/>
          <p:nvPr/>
        </p:nvSpPr>
        <p:spPr>
          <a:xfrm>
            <a:off x="4699000" y="4508500"/>
            <a:ext cx="1016000" cy="508000"/>
          </a:xfrm>
          <a:prstGeom prst="roundRect">
            <a:avLst>
              <a:gd name="adj" fmla="val 25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4699000" y="45974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高优先级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334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533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5461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删除图书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移除系统中不再需要或错误录入的图书记录</a:t>
            </a:r>
          </a:p>
        </p:txBody>
      </p:sp>
      <p:sp>
        <p:nvSpPr>
          <p:cNvPr id="21" name="AutoShape 21"/>
          <p:cNvSpPr/>
          <p:nvPr/>
        </p:nvSpPr>
        <p:spPr>
          <a:xfrm>
            <a:off x="4699000" y="5651500"/>
            <a:ext cx="1016000" cy="508000"/>
          </a:xfrm>
          <a:prstGeom prst="roundRect">
            <a:avLst>
              <a:gd name="adj" fmla="val 25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699000" y="57404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高优先级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223000" y="1524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223000" y="152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6477000" y="1651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搜索功能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支持按书名、作者关键字进行模糊搜索定位</a:t>
            </a:r>
          </a:p>
        </p:txBody>
      </p:sp>
      <p:sp>
        <p:nvSpPr>
          <p:cNvPr id="26" name="AutoShape 26"/>
          <p:cNvSpPr/>
          <p:nvPr/>
        </p:nvSpPr>
        <p:spPr>
          <a:xfrm>
            <a:off x="10160000" y="1841500"/>
            <a:ext cx="1016000" cy="508000"/>
          </a:xfrm>
          <a:prstGeom prst="roundRect">
            <a:avLst>
              <a:gd name="adj" fmla="val 25000"/>
            </a:avLst>
          </a:prstGeom>
          <a:solidFill>
            <a:srgbClr val="14B8A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10160000" y="19304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中优先级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28575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9" name="AutoShape 29"/>
          <p:cNvSpPr/>
          <p:nvPr/>
        </p:nvSpPr>
        <p:spPr>
          <a:xfrm>
            <a:off x="6223000" y="28575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6477000" y="29845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分类管理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预设图书分类体系，支持后期灵活扩展分类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0160000" y="3175000"/>
            <a:ext cx="1016000" cy="508000"/>
          </a:xfrm>
          <a:prstGeom prst="roundRect">
            <a:avLst>
              <a:gd name="adj" fmla="val 25000"/>
            </a:avLst>
          </a:prstGeom>
          <a:solidFill>
            <a:srgbClr val="14B8A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2" name="AutoShape 32"/>
          <p:cNvSpPr/>
          <p:nvPr/>
        </p:nvSpPr>
        <p:spPr>
          <a:xfrm>
            <a:off x="10160000" y="32639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中优先级</a:t>
            </a:r>
            <a:endParaRPr lang="en-US" sz="1100"/>
          </a:p>
        </p:txBody>
      </p:sp>
      <p:sp>
        <p:nvSpPr>
          <p:cNvPr id="33" name="AutoShape 33"/>
          <p:cNvSpPr/>
          <p:nvPr/>
        </p:nvSpPr>
        <p:spPr>
          <a:xfrm>
            <a:off x="6223000" y="4191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4" name="AutoShape 34"/>
          <p:cNvSpPr/>
          <p:nvPr/>
        </p:nvSpPr>
        <p:spPr>
          <a:xfrm>
            <a:off x="6223000" y="419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5" name="AutoShape 35"/>
          <p:cNvSpPr/>
          <p:nvPr/>
        </p:nvSpPr>
        <p:spPr>
          <a:xfrm>
            <a:off x="6477000" y="4318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统计看板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展示图书总数、各分类数量等基础统计信息</a:t>
            </a:r>
          </a:p>
        </p:txBody>
      </p:sp>
      <p:sp>
        <p:nvSpPr>
          <p:cNvPr id="36" name="AutoShape 36"/>
          <p:cNvSpPr/>
          <p:nvPr/>
        </p:nvSpPr>
        <p:spPr>
          <a:xfrm>
            <a:off x="10160000" y="4508500"/>
            <a:ext cx="1016000" cy="508000"/>
          </a:xfrm>
          <a:prstGeom prst="roundRect">
            <a:avLst>
              <a:gd name="adj" fmla="val 25000"/>
            </a:avLst>
          </a:prstGeom>
          <a:solidFill>
            <a:srgbClr val="14B8A6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7" name="AutoShape 37"/>
          <p:cNvSpPr/>
          <p:nvPr/>
        </p:nvSpPr>
        <p:spPr>
          <a:xfrm>
            <a:off x="10160000" y="45974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中优先级</a:t>
            </a:r>
            <a:endParaRPr lang="en-US" sz="1100"/>
          </a:p>
        </p:txBody>
      </p:sp>
      <p:sp>
        <p:nvSpPr>
          <p:cNvPr id="38" name="AutoShape 38"/>
          <p:cNvSpPr/>
          <p:nvPr/>
        </p:nvSpPr>
        <p:spPr>
          <a:xfrm>
            <a:off x="6223000" y="5334000"/>
            <a:ext cx="5207000" cy="1143000"/>
          </a:xfrm>
          <a:prstGeom prst="roundRect">
            <a:avLst>
              <a:gd name="adj" fmla="val 888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9" name="AutoShape 39"/>
          <p:cNvSpPr/>
          <p:nvPr/>
        </p:nvSpPr>
        <p:spPr>
          <a:xfrm>
            <a:off x="6223000" y="533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0" name="AutoShape 40"/>
          <p:cNvSpPr/>
          <p:nvPr/>
        </p:nvSpPr>
        <p:spPr>
          <a:xfrm>
            <a:off x="6477000" y="5461000"/>
            <a:ext cx="355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数据持久化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使用轻量级SQLite数据库存储图书信息，确保不丢失</a:t>
            </a:r>
          </a:p>
        </p:txBody>
      </p:sp>
      <p:sp>
        <p:nvSpPr>
          <p:cNvPr id="41" name="AutoShape 41"/>
          <p:cNvSpPr/>
          <p:nvPr/>
        </p:nvSpPr>
        <p:spPr>
          <a:xfrm>
            <a:off x="10160000" y="5651500"/>
            <a:ext cx="1016000" cy="508000"/>
          </a:xfrm>
          <a:prstGeom prst="roundRect">
            <a:avLst>
              <a:gd name="adj" fmla="val 2500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2" name="AutoShape 42"/>
          <p:cNvSpPr/>
          <p:nvPr/>
        </p:nvSpPr>
        <p:spPr>
          <a:xfrm>
            <a:off x="10160000" y="5740400"/>
            <a:ext cx="101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高优先级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04 技术路线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540000" cy="3429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52500" y="1905000"/>
            <a:ext cx="825500" cy="82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rcRect t="12445" b="12445"/>
          <a:stretch>
            <a:fillRect/>
          </a:stretch>
        </p:blipFill>
        <p:spPr>
          <a:xfrm>
            <a:off x="2032000" y="1905000"/>
            <a:ext cx="825500" cy="82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/>
          <p:cNvSpPr/>
          <p:nvPr/>
        </p:nvSpPr>
        <p:spPr>
          <a:xfrm>
            <a:off x="889000" y="2921000"/>
            <a:ext cx="228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后端开发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+ Flask</a:t>
            </a:r>
          </a:p>
          <a:p>
            <a:pPr indent="0" algn="ctr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选择Python搭配轻量级Flask框架，实现快速开发与部署，满足Web应用后端逻辑构建需求。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556000" y="1651000"/>
            <a:ext cx="2540000" cy="3429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 l="1923" r="1923"/>
          <a:stretch>
            <a:fillRect/>
          </a:stretch>
        </p:blipFill>
        <p:spPr>
          <a:xfrm>
            <a:off x="4191000" y="1905000"/>
            <a:ext cx="1270000" cy="82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3683000" y="2921000"/>
            <a:ext cx="228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数据存储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SQLite 数据库</a:t>
            </a:r>
          </a:p>
          <a:p>
            <a:pPr indent="0" algn="ctr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采用零配置、自包含的文件型数据库，无需独立服务器，非常适配本项目的本地轻量级部署场景。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350000" y="1651000"/>
            <a:ext cx="2540000" cy="3429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8500" y="1905000"/>
            <a:ext cx="1143000" cy="8255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477000" y="2921000"/>
            <a:ext cx="228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前端交互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HTML + Jinja2 + 原生 JS/CSS</a:t>
            </a:r>
          </a:p>
          <a:p>
            <a:pPr indent="0" algn="ctr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利用Jinja2实现后端数据动态渲染，配合原生技术栈构建结构清晰、交互流畅的用户界面。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144000" y="1651000"/>
            <a:ext cx="2540000" cy="3429000"/>
          </a:xfrm>
          <a:prstGeom prst="roundRect">
            <a:avLst>
              <a:gd name="adj" fmla="val 6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rcRect t="17703" b="17703"/>
          <a:stretch>
            <a:fillRect/>
          </a:stretch>
        </p:blipFill>
        <p:spPr>
          <a:xfrm>
            <a:off x="9779000" y="1905000"/>
            <a:ext cx="1270000" cy="8255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9271000" y="2921000"/>
            <a:ext cx="2286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9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版本管理</a:t>
            </a:r>
            <a:endParaRPr lang="en-US" sz="1100"/>
          </a:p>
          <a:p>
            <a:pPr indent="0" algn="ctr">
              <a:lnSpc>
                <a:spcPct val="108333"/>
              </a:lnSpc>
              <a:spcBef>
                <a:spcPts val="800"/>
              </a:spcBef>
            </a:pPr>
            <a:r>
              <a:rPr lang="en-US" sz="15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Git + GitHub</a:t>
            </a:r>
          </a:p>
          <a:p>
            <a:pPr indent="0" algn="ctr">
              <a:lnSpc>
                <a:spcPct val="116666"/>
              </a:lnSpc>
              <a:spcBef>
                <a:spcPts val="1000"/>
              </a:spcBef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通过Git进行本地代码版本控制，并将代码托管在GitHub平台，保障代码安全、方便协作与备份。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10922000" cy="1143000"/>
          </a:xfrm>
          <a:prstGeom prst="roundRect">
            <a:avLst>
              <a:gd name="adj" fmla="val 17777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762000" y="55245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浏览器 (Browser) ➔ Flask 后端 (Backend) ➔ SQLite 数据库 (Database)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05 数据库设计（初步）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778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分类表 (category)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id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: 主键 (Primary Key)，自增整数，唯一标识每个分类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name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: 分类名称 (VARCHAR)，例如：Java、Python、操作系统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524000"/>
            <a:ext cx="5207000" cy="2286000"/>
          </a:xfrm>
          <a:prstGeom prst="roundRect">
            <a:avLst>
              <a:gd name="adj" fmla="val 6666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7780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图书表 (book)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413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基础信息：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id (PK) | title (书名) | author (作者) | isbn (ISBN编号)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关联信息：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category_id (FK) - 关联分类表，表示所属分类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•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管理信息：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location (存放位置) | status (阅读状态)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445000"/>
            <a:ext cx="330200" cy="330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实体关系映射 (ER)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080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一对多 (One-to-Many)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：一个分类下可以包含多本不同的图书，而一本图书在逻辑上仅归属并关联一个分类。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191000"/>
            <a:ext cx="5207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445000"/>
            <a:ext cx="330200" cy="330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图书阅读状态 (Status)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080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可选值：</a:t>
            </a:r>
            <a:r>
              <a:rPr lang="en-US" sz="1400" b="0" i="0" u="none" strike="noStrike">
                <a:solidFill>
                  <a:srgbClr val="FFFFFF"/>
                </a:solidFill>
                <a:highlight>
                  <a:srgbClr val="EF4444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未读</a:t>
            </a:r>
            <a:r>
              <a:rPr lang="en-US" sz="1400" b="0" i="0" u="none" strike="noStrike">
                <a:solidFill>
                  <a:srgbClr val="FFFFFF"/>
                </a:solidFill>
                <a:highlight>
                  <a:srgbClr val="F59E0B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在读</a:t>
            </a:r>
            <a:r>
              <a:rPr lang="en-US" sz="1400" b="0" i="0" u="none" strike="noStrike">
                <a:solidFill>
                  <a:srgbClr val="FFFFFF"/>
                </a:solidFill>
                <a:highlight>
                  <a:srgbClr val="10B981">
                    <a:alpha val="0"/>
                  </a:srgbClr>
                </a:highlight>
                <a:latin typeface="Noto Sans SC"/>
                <a:ea typeface="Noto Sans SC"/>
                <a:cs typeface="Noto Sans SC"/>
                <a:sym typeface="Noto Sans SC"/>
              </a:rPr>
              <a:t>已读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06 进度安排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计划与设计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4.19 - 4.24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完成项目计划书、数据库设计、ER图绘制，明确技术架构与分工。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8575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762000" y="28575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016000" y="29845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开发实现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4.25 - 5.4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并行开发后端 API 接口与前端交互页面，完成核心功能模块的联调测试。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191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76200" cy="11430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016000" y="4318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测试与文档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5.5 - 5.12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开展功能与兼容性测试，修复潜在问题；完成中期开发报告与用户操作手册。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5207000" cy="1143000"/>
          </a:xfrm>
          <a:prstGeom prst="roundRect">
            <a:avLst>
              <a:gd name="adj" fmla="val 11111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5334000"/>
            <a:ext cx="76200" cy="1143000"/>
          </a:xfrm>
          <a:prstGeom prst="roundRect">
            <a:avLst>
              <a:gd name="adj" fmla="val 0"/>
            </a:avLst>
          </a:prstGeom>
          <a:solidFill>
            <a:srgbClr val="EF444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5461000"/>
            <a:ext cx="469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最终验收</a:t>
            </a: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| 5.13 前完成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600"/>
              </a:spcBef>
            </a:pPr>
            <a:r>
              <a:rPr lang="en-US" sz="13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提交最终代码与文档、Git 打 Tag 归档，并准备项目最终汇报演示。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rcRect l="8652" r="8652"/>
          <a:stretch>
            <a:fillRect/>
          </a:stretch>
        </p:blipFill>
        <p:spPr>
          <a:xfrm>
            <a:off x="6350000" y="2032000"/>
            <a:ext cx="5080000" cy="3556000"/>
          </a:xfrm>
          <a:prstGeom prst="roundRect">
            <a:avLst>
              <a:gd name="adj" fmla="val 4285"/>
            </a:avLst>
          </a:prstGeom>
          <a:noFill/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</p:pic>
      <p:sp>
        <p:nvSpPr>
          <p:cNvPr id="17" name="AutoShape 17"/>
          <p:cNvSpPr/>
          <p:nvPr/>
        </p:nvSpPr>
        <p:spPr>
          <a:xfrm>
            <a:off x="6350000" y="5715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可视化进度追踪示意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400"/>
              </a:spcBef>
            </a:pPr>
            <a:r>
              <a:rPr lang="en-US" sz="12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利用甘特图工具，实时把控各阶段关键节点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当前已完成的计划工作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711200" cy="711200"/>
          </a:xfrm>
          <a:prstGeom prst="ellipse">
            <a:avLst/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21209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981200" y="1905000"/>
            <a:ext cx="18288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完成选题与需求分析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明确了项目方向和核心功能，确保目标清晰可执行。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699000" y="1968500"/>
            <a:ext cx="711200" cy="711200"/>
          </a:xfrm>
          <a:prstGeom prst="ellipse">
            <a:avLst/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1400" y="21209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664200" y="1905000"/>
            <a:ext cx="18288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完成项目计划书文档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撰写了详细的开题报告文档，对研究内容做了系统性梳理。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8382000" y="1968500"/>
            <a:ext cx="711200" cy="711200"/>
          </a:xfrm>
          <a:prstGeom prst="ellipse">
            <a:avLst/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34400" y="21209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347200" y="1905000"/>
            <a:ext cx="18288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完成数据库表结构设计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设计了分类表和图书表的结构及关联关系，打好数据基础。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4508500"/>
            <a:ext cx="711200" cy="711200"/>
          </a:xfrm>
          <a:prstGeom prst="ellipse">
            <a:avLst/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46609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981200" y="4445000"/>
            <a:ext cx="18288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确定技术路线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选定 Flask + SQLite 组合作为核心技术方案，兼顾轻量与开发效率。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4445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699000" y="4508500"/>
            <a:ext cx="711200" cy="711200"/>
          </a:xfrm>
          <a:prstGeom prst="ellipse">
            <a:avLst/>
          </a:prstGeom>
          <a:solidFill>
            <a:srgbClr val="14B8A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51400" y="46609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5664200" y="4445000"/>
            <a:ext cx="18288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创建GitHub仓库并初始化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成功搭建代码版本管理环境，建立了标准的项目工程结构。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8128000" y="4191000"/>
            <a:ext cx="3302000" cy="2159000"/>
          </a:xfrm>
          <a:prstGeom prst="roundRect">
            <a:avLst>
              <a:gd name="adj" fmla="val 7058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F59E0B">
                <a:alpha val="4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382000" y="4508500"/>
            <a:ext cx="711200" cy="711200"/>
          </a:xfrm>
          <a:prstGeom prst="ellipse">
            <a:avLst/>
          </a:prstGeom>
          <a:solidFill>
            <a:srgbClr val="F59E0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534400" y="46609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347200" y="4445000"/>
            <a:ext cx="18288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7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待开始：代码开发</a:t>
            </a:r>
            <a:endParaRPr lang="en-US" sz="110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所有准备工作已就绪，下一步将进入实质性的功能编码阶段。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07 下一步计划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032000" cy="431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3800" y="2159000"/>
            <a:ext cx="762000" cy="762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17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搭建Flask项目框架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4064000"/>
            <a:ext cx="165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创建规范的项目目录结构，配置基础的Flask应用环境与必要的扩展。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997200" y="1778000"/>
            <a:ext cx="2032000" cy="431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29972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429000" y="2159000"/>
            <a:ext cx="762000" cy="762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3124200" y="317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后端API开发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187700" y="4064000"/>
            <a:ext cx="165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实现图书数据的增、删、改、查(CRUD)核心接口，编写对应的路由与逻辑处理函数。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232400" y="1778000"/>
            <a:ext cx="2032000" cy="431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52324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664200" y="2159000"/>
            <a:ext cx="762000" cy="762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359400" y="317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前端页面编写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422900" y="4064000"/>
            <a:ext cx="165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基于HTML模板，开发图书列表展示、添加图书及编辑图书等交互页面。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467600" y="1778000"/>
            <a:ext cx="2032000" cy="431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74676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899400" y="2159000"/>
            <a:ext cx="762000" cy="762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594600" y="317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功能联调与测试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658100" y="4064000"/>
            <a:ext cx="165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验证前后端数据交互的准确性与稳定性，并完成核心功能模块的初步集成测试。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9702800" y="1778000"/>
            <a:ext cx="2032000" cy="4318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9702800" y="1778000"/>
            <a:ext cx="2032000" cy="76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134600" y="2159000"/>
            <a:ext cx="762000" cy="762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9829800" y="317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中期报告撰写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9893300" y="4064000"/>
            <a:ext cx="1651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整理当前阶段的开发文档与项目进展，在5月6日前完成并提交中期报告。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80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谢谢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683000"/>
            <a:ext cx="1016000" cy="76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318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以上为本项目的开题报告，请各位老师批评指正。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588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914</Words>
  <Application>Microsoft Office PowerPoint</Application>
  <PresentationFormat>宽屏</PresentationFormat>
  <Paragraphs>175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Immortal Water</cp:lastModifiedBy>
  <cp:revision>3</cp:revision>
  <dcterms:modified xsi:type="dcterms:W3CDTF">2026-05-09T10:49:02Z</dcterms:modified>
</cp:coreProperties>
</file>